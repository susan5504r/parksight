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 i="0">
                <a:solidFill>
                  <a:srgbClr val="F8FAFC"/>
                </a:solidFill>
                <a:latin typeface="Segoe UI"/>
              </a:rPr>
              <a:t>🅿️  ParkSight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2D3EE"/>
                </a:solidFill>
                <a:latin typeface="Segoe UI"/>
              </a:rPr>
              <a:t>AI-Driven Parking-Congestion Intelligence for Targeted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233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Segoe UI"/>
              </a:rPr>
              <a:t>From reactive patrols to a predictive command center —</a:t>
            </a:r>
          </a:p>
          <a:p>
            <a:pPr algn="l"/>
            <a:r>
              <a:rPr sz="1800" b="0" i="0">
                <a:solidFill>
                  <a:srgbClr val="94A3B8"/>
                </a:solidFill>
                <a:latin typeface="Segoe UI"/>
              </a:rPr>
              <a:t>built on 298,445 real Bengaluru parking violations.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Segoe UI"/>
              </a:rPr>
              <a:t>Flipkart Gridlock 2.0 · Round 2 · Theme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B6EF1"/>
                </a:solidFill>
                <a:latin typeface="Segoe U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Parking chokes the city — and nobody can see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6B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F8FAFC"/>
                </a:solidFill>
                <a:latin typeface="Segoe UI"/>
              </a:rPr>
              <a:t>•  On-street &amp; spillover parking near markets, metro and events blocks carriageways and junctions.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8FAFC"/>
                </a:solidFill>
                <a:latin typeface="Segoe UI"/>
              </a:rPr>
              <a:t>•  Enforcement today is patrol-based and reactive — officers chase, they don't pre-empt.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8FAFC"/>
                </a:solidFill>
                <a:latin typeface="Segoe UI"/>
              </a:rPr>
              <a:t>•  No heatmap of violations vs. congestion impact exists.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8FAFC"/>
                </a:solidFill>
                <a:latin typeface="Segoe UI"/>
              </a:rPr>
              <a:t>•  Authorities can't prioritise which zones to enforce, or when.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645920"/>
            <a:ext cx="42062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1">
                <a:solidFill>
                  <a:srgbClr val="FACC15"/>
                </a:solidFill>
                <a:latin typeface="Segoe UI"/>
              </a:rPr>
              <a:t>“Where does illegal parking</a:t>
            </a:r>
          </a:p>
          <a:p>
            <a:pPr algn="l"/>
            <a:r>
              <a:rPr sz="2200" b="1" i="1">
                <a:solidFill>
                  <a:srgbClr val="FACC15"/>
                </a:solidFill>
                <a:latin typeface="Segoe UI"/>
              </a:rPr>
              <a:t>actually hurt traffic flow —</a:t>
            </a:r>
          </a:p>
          <a:p>
            <a:pPr algn="l"/>
            <a:r>
              <a:rPr sz="2200" b="1" i="1">
                <a:solidFill>
                  <a:srgbClr val="FACC15"/>
                </a:solidFill>
                <a:latin typeface="Segoe UI"/>
              </a:rPr>
              <a:t>and where do we send teams</a:t>
            </a:r>
          </a:p>
          <a:p>
            <a:pPr algn="l"/>
            <a:r>
              <a:rPr sz="2200" b="1" i="1">
                <a:solidFill>
                  <a:srgbClr val="FACC15"/>
                </a:solidFill>
                <a:latin typeface="Segoe UI"/>
              </a:rPr>
              <a:t>tomorrow?”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Segoe UI"/>
              </a:rPr>
              <a:t>THE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The Evening Enforcement Blind-Spot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blindsp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766560" cy="3157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73736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F8FAFC"/>
                </a:solidFill>
                <a:latin typeface="Segoe UI"/>
              </a:rPr>
              <a:t>•  After converting timestamps UTC→IST, records collapse during 15:00-24:00 IST.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8FAFC"/>
                </a:solidFill>
                <a:latin typeface="Segoe UI"/>
              </a:rPr>
              <a:t>•  That's exactly when commercial congestion peaks.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8FAFC"/>
                </a:solidFill>
                <a:latin typeface="Segoe UI"/>
              </a:rPr>
              <a:t>•  Few tickets ≠ few violations → it's low enforcement VISIBILITY.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8FAFC"/>
                </a:solidFill>
                <a:latin typeface="Segoe UI"/>
              </a:rPr>
              <a:t>•  This IS the 'poor visibility' the brief names — ParkSight closes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298,445 violations — a near-perfect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566160" cy="146304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F8FAFC"/>
                </a:solidFill>
                <a:latin typeface="Segoe UI"/>
              </a:rPr>
              <a:t>298,445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Segoe UI"/>
              </a:rPr>
              <a:t>violations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37360"/>
            <a:ext cx="3566160" cy="146304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01952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F8FAFC"/>
                </a:solidFill>
                <a:latin typeface="Segoe U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517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Segoe UI"/>
              </a:rPr>
              <a:t>geo-located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737360"/>
            <a:ext cx="3566160" cy="146304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901952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F8FAFC"/>
                </a:solidFill>
                <a:latin typeface="Segoe UI"/>
              </a:rPr>
              <a:t>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517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Segoe UI"/>
              </a:rPr>
              <a:t>police stations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3566160" cy="146304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39312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F8FAFC"/>
                </a:solidFill>
                <a:latin typeface="Segoe UI"/>
              </a:rPr>
              <a:t>168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Segoe UI"/>
              </a:rPr>
              <a:t>junctions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474720"/>
            <a:ext cx="3566160" cy="146304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639312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F8FAFC"/>
                </a:solidFill>
                <a:latin typeface="Segoe UI"/>
              </a:rPr>
              <a:t>34.2%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3891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Segoe UI"/>
              </a:rPr>
              <a:t>from repeat offenders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474720"/>
            <a:ext cx="3566160" cy="146304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639312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F8FAFC"/>
                </a:solidFill>
                <a:latin typeface="Segoe UI"/>
              </a:rPr>
              <a:t>10.3%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3891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Segoe UI"/>
              </a:rPr>
              <a:t>carriageway-blocking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Nov 2023 → Apr 2024 · dominated by Wrong/No-Parking &amp; Main-Road parking · 3,070 enforcement devices.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B6EF1"/>
                </a:solidFill>
                <a:latin typeface="Segoe UI"/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Eight modules a command center would actually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6B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51760" cy="182880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🧭 Executive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KPIs, impact, the blind-spot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1568" y="1828800"/>
            <a:ext cx="2651760" cy="182880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196596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🗺️ AI Hotspot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27432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H3 heat, density, zones, drill-down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828800"/>
            <a:ext cx="2651760" cy="182880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96596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📊 PCIS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7432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explainable impact score, re-weightable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07424" y="1828800"/>
            <a:ext cx="2651760" cy="182880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2" y="196596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🔮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27432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next-7-day per station +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2651760" cy="182880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690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🎯 Prioritize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463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ranked plan + PDF briefing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01568" y="3931920"/>
            <a:ext cx="2651760" cy="182880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1296" y="40690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🧪 Simulator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1296" y="48463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What-If deployment impact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4496" y="3931920"/>
            <a:ext cx="2651760" cy="182880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40690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🤖 AI Copilot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8463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plain-English, grounded answers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07424" y="3931920"/>
            <a:ext cx="2651760" cy="1828800"/>
          </a:xfrm>
          <a:prstGeom prst="rect">
            <a:avLst/>
          </a:prstGeom>
          <a:solidFill>
            <a:srgbClr val="161D2E"/>
          </a:solidFill>
          <a:ln>
            <a:solidFill>
              <a:srgbClr val="6B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0690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🚨 Offenders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8463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15% of vehicles → 34% of violations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ACC15"/>
                </a:solidFill>
                <a:latin typeface="Segoe UI"/>
              </a:rPr>
              <a:t>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PCIS — quantifying impact without faking traffic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2D3EE"/>
                </a:solidFill>
                <a:latin typeface="Segoe UI"/>
              </a:rPr>
              <a:t>PCIS = 100 × (0.30·Volume + 0.20·Severity + 0.20·Location + 0.20·PeakOverlap + 0.10·Trend)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F8FAFC"/>
                </a:solidFill>
                <a:latin typeface="Segoe UI"/>
              </a:rPr>
              <a:t>•  Volume — log-scaled violation count (heavy-tailed).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8FAFC"/>
                </a:solidFill>
                <a:latin typeface="Segoe UI"/>
              </a:rPr>
              <a:t>•  Severity — carriageway-blocking weight: main-road / double / footpath &gt; no-parking.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8FAFC"/>
                </a:solidFill>
                <a:latin typeface="Segoe UI"/>
              </a:rPr>
              <a:t>•  Location — junction &amp; commercial-keyword criticality (a junction block cascades).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8FAFC"/>
                </a:solidFill>
                <a:latin typeface="Segoe UI"/>
              </a:rPr>
              <a:t>•  Peak-overlap — share in IST peak windows 08–11 &amp; 17–21 (a 6 PM block hurts more than 3 AM).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8FAFC"/>
                </a:solidFill>
                <a:latin typeface="Segoe UI"/>
              </a:rPr>
              <a:t>•  Trend — month-over-month growth, so rising hotspots are caught early.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8FAFC"/>
                </a:solidFill>
                <a:latin typeface="Segoe UI"/>
              </a:rPr>
              <a:t>•  Weights are TUNABLE live in the app — a transparent policy lever, not a black box.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B6EF1"/>
                </a:solidFill>
                <a:latin typeface="Segoe UI"/>
              </a:rPr>
              <a:t>SEE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Hotspots ranked by real impact, not raw 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6B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hotspo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F8FAFC"/>
                </a:solidFill>
                <a:latin typeface="Segoe UI"/>
              </a:rPr>
              <a:t>•  H3 hexagons + DBSCAN zones on a dark deck.gl map.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8FAFC"/>
                </a:solidFill>
                <a:latin typeface="Segoe UI"/>
              </a:rPr>
              <a:t>•  Colour = PCIS, so a main-road evening hotspot beats a quiet residential one.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8FAFC"/>
                </a:solidFill>
                <a:latin typeface="Segoe UI"/>
              </a:rPr>
              <a:t>•  Click any zone → component breakdown + recommended units &amp; time window.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Tomorrow's hotspots, with confidence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32430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82880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F8FAFC"/>
                </a:solidFill>
                <a:latin typeface="Segoe UI"/>
              </a:rPr>
              <a:t>•  LightGBM, 7-day horizon, p10–p90 confidence bands.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8FAFC"/>
                </a:solidFill>
                <a:latin typeface="Segoe UI"/>
              </a:rPr>
              <a:t>•  MAE 15.87 vs baseline 18.52 — 14.3% better.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8FAFC"/>
                </a:solidFill>
                <a:latin typeface="Segoe UI"/>
              </a:rPr>
              <a:t>•  Benchmarked against climatology so the ML's value is explicit.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8FAFC"/>
                </a:solidFill>
                <a:latin typeface="Segoe UI"/>
              </a:rPr>
              <a:t>•  Feature importance = explainability, not a black box.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Segoe UI"/>
              </a:rPr>
              <a:t>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Prioritise → Simulate →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F8FAFC"/>
                </a:solidFill>
                <a:latin typeface="Segoe UI"/>
              </a:rPr>
              <a:t>•  Prioritize: ranked High/Med/Low per station &amp; junction, each with a plain-English reason.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F8FAFC"/>
                </a:solidFill>
                <a:latin typeface="Segoe UI"/>
              </a:rPr>
              <a:t>•  Enforcement-Gap targets where predicted impact is high but current presence is low — the blind spot.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F8FAFC"/>
                </a:solidFill>
                <a:latin typeface="Segoe UI"/>
              </a:rPr>
              <a:t>•  Smart Simulator: pick zones, set an enforcement increase &amp; deterrence elasticity → see violations prevented and % of citywide impact covered, live.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F8FAFC"/>
                </a:solidFill>
                <a:latin typeface="Segoe UI"/>
              </a:rPr>
              <a:t>•  One-click Daily Deployment Briefing PDF — a station officer can act on it this shift.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B6EF1"/>
                </a:solidFill>
                <a:latin typeface="Segoe UI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An AI Copilot, grounded in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6B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8FAFC"/>
                </a:solidFill>
                <a:latin typeface="Segoe UI"/>
              </a:rPr>
              <a:t>•  “Show the top 10 illegal parking zones.”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8FAFC"/>
                </a:solidFill>
                <a:latin typeface="Segoe UI"/>
              </a:rPr>
              <a:t>•  “Which hotspot causes the highest congestion?”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8FAFC"/>
                </a:solidFill>
                <a:latin typeface="Segoe UI"/>
              </a:rPr>
              <a:t>•  “Where should enforcement teams deploy tomorrow evening?”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8FAFC"/>
                </a:solidFill>
                <a:latin typeface="Segoe UI"/>
              </a:rPr>
              <a:t>•  “What happens if we increase enforcement by 20%?”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94A3B8"/>
                </a:solidFill>
                <a:latin typeface="Segoe UI"/>
              </a:rPr>
              <a:t>Claude parses the question; our analytics compute the answer — every number is grounded in the dataset, never hallucinated. A deterministic fallback keeps the demo alive with no API key.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Precompute → tiny artifacts → instant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10515600" cy="61875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B6EF1"/>
                </a:solidFill>
                <a:latin typeface="Segoe UI"/>
              </a:rPr>
              <a:t>IMPACT &amp;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Deployable, defensible, and honest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6B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F8FAFC"/>
                </a:solidFill>
                <a:latin typeface="Segoe UI"/>
              </a:rPr>
              <a:t>•  A working, deployed product the Bengaluru Traffic Police could pilot now.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F8FAFC"/>
                </a:solidFill>
                <a:latin typeface="Segoe UI"/>
              </a:rPr>
              <a:t>•  PCIS is an explicit proxy — no traffic-flow column exists, and we say so.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F8FAFC"/>
                </a:solidFill>
                <a:latin typeface="Segoe UI"/>
              </a:rPr>
              <a:t>•  No closure/action timestamps → we don't overclaim response-time analytics.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F8FAFC"/>
                </a:solidFill>
                <a:latin typeface="Segoe UI"/>
              </a:rPr>
              <a:t>•  Roadmap: live SCITA/ITMS feed, OSM road-graph spillover, cell-level forecasting, patrol optimiser.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737360"/>
            <a:ext cx="42062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ACC15"/>
                </a:solidFill>
                <a:latin typeface="Segoe UI"/>
              </a:rPr>
              <a:t>ParkSight</a:t>
            </a:r>
          </a:p>
          <a:p>
            <a:pPr algn="l"/>
            <a:r>
              <a:rPr sz="2400" b="1" i="0">
                <a:solidFill>
                  <a:srgbClr val="FACC15"/>
                </a:solidFill>
                <a:latin typeface="Segoe UI"/>
              </a:rPr>
              <a:t>sees the blind spot,</a:t>
            </a:r>
          </a:p>
          <a:p>
            <a:pPr algn="l"/>
            <a:r>
              <a:rPr sz="2400" b="1" i="0">
                <a:solidFill>
                  <a:srgbClr val="FACC15"/>
                </a:solidFill>
                <a:latin typeface="Segoe UI"/>
              </a:rPr>
              <a:t>scores the impact,</a:t>
            </a:r>
          </a:p>
          <a:p>
            <a:pPr algn="l"/>
            <a:r>
              <a:rPr sz="2400" b="1" i="0">
                <a:solidFill>
                  <a:srgbClr val="FACC15"/>
                </a:solidFill>
                <a:latin typeface="Segoe UI"/>
              </a:rPr>
              <a:t>and deploys the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